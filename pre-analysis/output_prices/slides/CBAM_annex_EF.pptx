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5448" y="-109728"/>
            <a:ext cx="8321040" cy="74980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Annex – Why the levy uses 0.718 and 0.440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49808"/>
            <a:ext cx="832104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3A5C"/>
                </a:solidFill>
                <a:latin typeface="Calibri"/>
              </a:rPr>
              <a:t>CBAM prices imported electricity on the intensity of the exporter's fossil fleet, not on its grid average. The gap is a definition, not a penalty.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15568"/>
            <a:ext cx="4846320" cy="2103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0" bIns="0"/>
          <a:lstStyle/>
          <a:p>
            <a:pPr algn="l">
              <a:spcAft>
                <a:spcPts val="700"/>
              </a:spcAft>
            </a:pPr>
            <a:r>
              <a:rPr sz="950" b="1">
                <a:solidFill>
                  <a:srgbClr val="1A3A5C"/>
                </a:solidFill>
                <a:latin typeface="Calibri"/>
              </a:rPr>
              <a:t>▪  The rule.</a:t>
            </a:r>
            <a:r>
              <a:rPr sz="950" b="0">
                <a:solidFill>
                  <a:srgbClr val="344054"/>
                </a:solidFill>
                <a:latin typeface="Calibri"/>
              </a:rPr>
              <a:t> Article 7(3) of Regulation (EU) 2023/956 sends imported electricity to default values; Annex IV §4.2.1 sets them at “the CO₂ emission factor in the third country”; Article 1(4) of IR (EU) 2025/2621 makes that Annex III.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1A3A5C"/>
                </a:solidFill>
                <a:latin typeface="Calibri"/>
              </a:rPr>
              <a:t>▪  The definition that creates the gap.</a:t>
            </a:r>
            <a:r>
              <a:rPr sz="950" b="0">
                <a:solidFill>
                  <a:srgbClr val="344054"/>
                </a:solidFill>
                <a:latin typeface="Calibri"/>
              </a:rPr>
              <a:t> Annex IV §1(d) defines that factor as “the CO₂ emission data of the electricity sector” divided by “the gross electricity generation based on fossil fuels”. Hydro, nuclear and renewables are struck from the denominator.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1A3A5C"/>
                </a:solidFill>
                <a:latin typeface="Calibri"/>
              </a:rPr>
              <a:t>▪  So the export default is the grid average divided by the fossil share.</a:t>
            </a:r>
            <a:r>
              <a:rPr sz="950" b="0">
                <a:solidFill>
                  <a:srgbClr val="344054"/>
                </a:solidFill>
                <a:latin typeface="Calibri"/>
              </a:rPr>
              <a:t> Not a penalty applied to the mix — a different denominator. Both annexes are five-year averages of IEA data (IR recitals 7 and 8), built on a deliberately conservative approach (recital 3).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1A3A5C"/>
                </a:solidFill>
                <a:latin typeface="Calibri"/>
              </a:rPr>
              <a:t>▪  Goods use the other annex.</a:t>
            </a:r>
            <a:r>
              <a:rPr sz="950" b="0">
                <a:solidFill>
                  <a:srgbClr val="344054"/>
                </a:solidFill>
                <a:latin typeface="Calibri"/>
              </a:rPr>
              <a:t> For electricity consumed in producing steel or aluminium, IR recital 7 keeps the country grid average — Annex II. Same source, same years, different denominator.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0" y="1115568"/>
          <a:ext cx="324611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751"/>
                <a:gridCol w="695597"/>
                <a:gridCol w="695597"/>
                <a:gridCol w="850174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Grid average
Annex II</a:t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Export default
Annex III</a:t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Implied fossil
share of generation</a:t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Türkiye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0.420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0.718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58 %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Georgia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0.102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0.440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23 %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Ukraine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0.310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0.907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34 %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United Kingdom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0.193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0.430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45 %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Albania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0" y="2798064"/>
            <a:ext cx="324612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4A5568"/>
                </a:solidFill>
                <a:latin typeface="Calibri"/>
              </a:rPr>
              <a:t>Annex III = Annex II ÷ fossil share. Türkiye's mix is 58–65 % fossil, Georgia's ~20–25 % gas — the identity holds. Albania has no thermal plant and is listed at 0 in both: hydro is not what is taxed, gas 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401568"/>
            <a:ext cx="8321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497B0"/>
                </a:solidFill>
                <a:latin typeface="Calibri"/>
              </a:rPr>
              <a:t>Two arguments that do not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602736"/>
            <a:ext cx="832104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0" bIns="0"/>
          <a:lstStyle/>
          <a:p>
            <a:pPr algn="l">
              <a:spcAft>
                <a:spcPts val="500"/>
              </a:spcAft>
            </a:pPr>
            <a:r>
              <a:rPr sz="900" b="1">
                <a:solidFill>
                  <a:srgbClr val="1A3A5C"/>
                </a:solidFill>
                <a:latin typeface="Calibri"/>
              </a:rPr>
              <a:t>▪  No mark-up applies to electricity.</a:t>
            </a:r>
            <a:r>
              <a:rPr sz="900" b="0">
                <a:solidFill>
                  <a:srgbClr val="344054"/>
                </a:solidFill>
                <a:latin typeface="Calibri"/>
              </a:rPr>
              <a:t> The +10 / +20 / +30 % phase-in of IR recital 5 covers the deviation of individual installations from a national average, so it sits only in the Annex I goods tables. Annex III carries one column, with no year on it.</a:t>
            </a:r>
          </a:p>
          <a:p>
            <a:pPr algn="l">
              <a:spcAft>
                <a:spcPts val="500"/>
              </a:spcAft>
            </a:pPr>
            <a:r>
              <a:rPr sz="900" b="1">
                <a:solidFill>
                  <a:srgbClr val="1A3A5C"/>
                </a:solidFill>
                <a:latin typeface="Calibri"/>
              </a:rPr>
              <a:t>▪  Actual emissions are not available on this border.</a:t>
            </a:r>
            <a:r>
              <a:rPr sz="900" b="0">
                <a:solidFill>
                  <a:srgbClr val="344054"/>
                </a:solidFill>
                <a:latin typeface="Calibri"/>
              </a:rPr>
              <a:t> Annex IV §5 requires all five of: a PPA with the producer, a plant directly connected to the EU system (or demonstrated absence of congestion), ≤ 550 gCO₂/kWh, hourly firm nomination on allocated interconnection capacity, and monthly verification.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4700016"/>
            <a:ext cx="877824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8497B0"/>
                </a:solidFill>
                <a:latin typeface="Calibri"/>
              </a:rPr>
              <a:t>Sources:  Regulation (EU) 2023/956, Annex IV §1(d), §4.2.1 and §5  ·  Commission Implementing Regulation (EU) 2025/2621 of 16 December 2025 (OJ L, 31.12.2025), recitals 3–8, Article 1(3)–(4), Annexes I–III — values sourced from the IEA  ·  implied fossil shares cross-checked against Ember Türkiye Electricity Review and IEA Georgia energy mix.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