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5448" y="-109728"/>
            <a:ext cx="8321040" cy="749808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CBAM –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632" y="694944"/>
            <a:ext cx="832104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3A5C"/>
                </a:solidFill>
                <a:latin typeface="Calibri"/>
              </a:rPr>
              <a:t>→  CBAM: 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694944"/>
            <a:ext cx="7498079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44054"/>
                </a:solidFill>
                <a:latin typeface="Calibri"/>
              </a:rPr>
              <a:t>a carbon price paid at the EU border. Every MWh entering the EU pays the ETS price on its deemed carbon — one direction only.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9264"/>
            <a:ext cx="877824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8497B0"/>
                </a:solidFill>
                <a:latin typeface="Calibri"/>
              </a:rPr>
              <a:t>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" y="1152144"/>
            <a:ext cx="8778240" cy="329184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A3A5C"/>
                </a:solidFill>
                <a:latin typeface="Calibri"/>
              </a:rPr>
              <a:t>CBAM (€/MWh)   =   EF (tCO₂e/MWh)   ×   ETS price (€/tCO₂)   ×   100 %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1801368" y="1106424"/>
            <a:ext cx="237744" cy="1005840"/>
          </a:xfrm>
          <a:prstGeom prst="leftBrace">
            <a:avLst/>
          </a:prstGeom>
          <a:noFill/>
          <a:ln w="12700">
            <a:solidFill>
              <a:srgbClr val="84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2651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3A5C"/>
                </a:solidFill>
                <a:latin typeface="Calibri"/>
              </a:rPr>
              <a:t>EF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2651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Annex III default — not the grid mix</a:t>
            </a:r>
          </a:p>
        </p:txBody>
      </p:sp>
      <p:sp>
        <p:nvSpPr>
          <p:cNvPr id="10" name="Left Brace 9"/>
          <p:cNvSpPr/>
          <p:nvPr/>
        </p:nvSpPr>
        <p:spPr>
          <a:xfrm rot="16200000">
            <a:off x="4453128" y="1106424"/>
            <a:ext cx="237744" cy="1005840"/>
          </a:xfrm>
          <a:prstGeom prst="leftBrace">
            <a:avLst/>
          </a:prstGeom>
          <a:noFill/>
          <a:ln w="12700">
            <a:solidFill>
              <a:srgbClr val="84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651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3A5C"/>
                </a:solidFill>
                <a:latin typeface="Calibri"/>
              </a:rPr>
              <a:t>ETS price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920240"/>
            <a:ext cx="2651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Observed 2024, then TYNDP 2024:
84 → 122 → 159 €/t</a:t>
            </a:r>
          </a:p>
        </p:txBody>
      </p:sp>
      <p:sp>
        <p:nvSpPr>
          <p:cNvPr id="13" name="Left Brace 12"/>
          <p:cNvSpPr/>
          <p:nvPr/>
        </p:nvSpPr>
        <p:spPr>
          <a:xfrm rot="16200000">
            <a:off x="7104888" y="1106424"/>
            <a:ext cx="237744" cy="1005840"/>
          </a:xfrm>
          <a:prstGeom prst="leftBrace">
            <a:avLst/>
          </a:prstGeom>
          <a:noFill/>
          <a:ln w="12700">
            <a:solidFill>
              <a:srgbClr val="84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97880" y="1737360"/>
            <a:ext cx="265176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3A5C"/>
                </a:solidFill>
                <a:latin typeface="Calibri"/>
              </a:rPr>
              <a:t>100 % from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920240"/>
            <a:ext cx="26517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4A5568"/>
                </a:solidFill>
                <a:latin typeface="Calibri"/>
              </a:rPr>
              <a:t>No phase-in: EU power has had no free allowances since 2013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2322576"/>
            <a:ext cx="8778240" cy="1828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C4221"/>
                </a:solidFill>
                <a:latin typeface="Calibri"/>
              </a:rPr>
              <a:t>Georgia's grid averages 0.102 tCO₂/MWh — its export default is 0.440, because the plant answering an export order is thermal.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596896"/>
            <a:ext cx="54864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497B0"/>
                </a:solidFill>
                <a:latin typeface="Calibri"/>
              </a:rPr>
              <a:t>The factor sets the levy, the levy sets what an export is worth  ·  €2024 / MWh, Central EU price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11480" y="2779776"/>
          <a:ext cx="8321038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145"/>
                <a:gridCol w="756458"/>
                <a:gridCol w="756458"/>
                <a:gridCol w="756458"/>
                <a:gridCol w="756458"/>
                <a:gridCol w="1985702"/>
                <a:gridCol w="1418359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Exporter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EF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2030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2040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Net-back 2030
without → with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Year at the
floor, 2040</a:t>
                      </a:r>
                    </a:p>
                  </a:txBody>
                  <a:tcPr marL="45720" marR="45720" marT="0" marB="0" anchor="ctr">
                    <a:solidFill>
                      <a:srgbClr val="1A3A5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Türkiye → BG / GR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85  →  14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81 %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Georgia → RO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83  →  33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44054"/>
                          </a:solidFill>
                          <a:latin typeface="Calibri"/>
                        </a:rPr>
                        <a:t>35 %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Serbia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1.041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Ukraine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0.907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Moldova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0F4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EU reference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4A5568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11480" y="4553712"/>
            <a:ext cx="8321040" cy="2194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A3A5C"/>
                </a:solidFill>
                <a:latin typeface="Calibri"/>
              </a:rPr>
              <a:t>By 2030 the Turkish levy (88) meets the EU price itself (89). Georgia, at half the factor, keeps a margin.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846320"/>
            <a:ext cx="877824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8497B0"/>
                </a:solidFill>
                <a:latin typeface="Calibri"/>
              </a:rPr>
              <a:t>Sources: Regulation (EU) 2023/956; Implementing Regulation (EU) 2025/2621 Annex III default factors; EU ETS observed 2024 and ENTSO-E TYNDP 2024 carbon price.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